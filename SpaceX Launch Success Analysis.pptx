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0"/>
  </p:notesMasterIdLst>
  <p:handoutMasterIdLst>
    <p:handoutMasterId r:id="rId21"/>
  </p:handoutMasterIdLst>
  <p:sldIdLst>
    <p:sldId id="410" r:id="rId5"/>
    <p:sldId id="383" r:id="rId6"/>
    <p:sldId id="411" r:id="rId7"/>
    <p:sldId id="412" r:id="rId8"/>
    <p:sldId id="389" r:id="rId9"/>
    <p:sldId id="413" r:id="rId10"/>
    <p:sldId id="391" r:id="rId11"/>
    <p:sldId id="397" r:id="rId12"/>
    <p:sldId id="408" r:id="rId13"/>
    <p:sldId id="407" r:id="rId14"/>
    <p:sldId id="406" r:id="rId15"/>
    <p:sldId id="418" r:id="rId16"/>
    <p:sldId id="404" r:id="rId17"/>
    <p:sldId id="417" r:id="rId18"/>
    <p:sldId id="398" r:id="rId1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229" autoAdjust="0"/>
  </p:normalViewPr>
  <p:slideViewPr>
    <p:cSldViewPr snapToGrid="0">
      <p:cViewPr varScale="1">
        <p:scale>
          <a:sx n="100" d="100"/>
          <a:sy n="100" d="100"/>
        </p:scale>
        <p:origin x="72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E92A46E5-772B-4A8A-A167-62663A29553C}" type="datetime1">
              <a:rPr lang="es-ES" smtClean="0"/>
              <a:t>23/02/2025</a:t>
            </a:fld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2C230DF-5933-439D-898F-38E9AC9BA688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6DB30B6-91B7-493F-B445-96E1D2848A7B}" type="datetime1">
              <a:rPr lang="es-ES" smtClean="0"/>
              <a:t>23/02/2025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89C7E07-3C67-C64C-8DA0-0404F630397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7488A-2F4F-9789-F36E-36C86D9D9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46ECD4-37EF-E610-30D5-1E9FDF6EE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6276D18-5FDA-BF95-2034-6F8CB4602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242CA2-EBA6-4AAF-A472-084454B8C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7400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9B02-0BC5-7936-0794-8F38A60D1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06B118-59F0-0EB4-019D-72559B7D4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5387A23-B850-1059-5AE6-7736563FB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EF0AF5-1B8C-E2BC-292D-D6F2DA11D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2465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56181-7AD3-B4BD-172F-316CBF396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84014C-9BB2-2121-1311-CDCAB5862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4C956E-61A6-B11A-9DD1-6D0688A71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9DD69E-2211-0AA0-1671-D63E1E935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2764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DF3EF-9357-5C3C-A838-C6ECD259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AA06B54-8C01-6FA7-2D31-CA2B4D0FF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C0179F-3D00-58D1-69E9-7B253A574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606996-A0FA-925B-4ABC-1919A66E9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72305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 spc="50" baseline="0">
                <a:latin typeface="+mj-lt"/>
              </a:defRPr>
            </a:lvl1pPr>
          </a:lstStyle>
          <a:p>
            <a:pPr rtl="0"/>
            <a:r>
              <a:rPr lang="es-ES" noProof="0" dirty="0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s-E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b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9436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Forma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Forma lib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es-ES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es-ES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es-ES" sz="2000"/>
            </a:lvl3pPr>
            <a:lvl4pPr marL="1371600" indent="0">
              <a:spcBef>
                <a:spcPts val="1800"/>
              </a:spcBef>
              <a:buFont typeface="+mj-lt"/>
              <a:buNone/>
              <a:defRPr lang="es-ES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endParaRPr lang="es-ES" dirty="0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457200" indent="0">
              <a:spcBef>
                <a:spcPts val="1800"/>
              </a:spcBef>
              <a:buNone/>
              <a:defRPr lang="es-ES" sz="2000"/>
            </a:lvl2pPr>
            <a:lvl3pPr marL="914400" indent="0">
              <a:spcBef>
                <a:spcPts val="1800"/>
              </a:spcBef>
              <a:buNone/>
              <a:defRPr lang="es-ES" sz="2000"/>
            </a:lvl3pPr>
            <a:lvl4pPr marL="1371600" indent="0">
              <a:spcBef>
                <a:spcPts val="1800"/>
              </a:spcBef>
              <a:buNone/>
              <a:defRPr lang="es-ES" sz="2000"/>
            </a:lvl4pPr>
            <a:lvl5pPr marL="1828800" indent="0">
              <a:spcBef>
                <a:spcPts val="1800"/>
              </a:spcBef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>
              <a:spcBef>
                <a:spcPts val="18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9" name="Marcador de posición de la tab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s-ES">
          <a:solidFill>
            <a:schemeClr val="tx2"/>
          </a:solidFill>
        </a:defRPr>
      </a:lvl2pPr>
      <a:lvl3pPr eaLnBrk="1" hangingPunct="1">
        <a:defRPr lang="es-ES">
          <a:solidFill>
            <a:schemeClr val="tx2"/>
          </a:solidFill>
        </a:defRPr>
      </a:lvl3pPr>
      <a:lvl4pPr eaLnBrk="1" hangingPunct="1">
        <a:defRPr lang="es-ES">
          <a:solidFill>
            <a:schemeClr val="tx2"/>
          </a:solidFill>
        </a:defRPr>
      </a:lvl4pPr>
      <a:lvl5pPr eaLnBrk="1" hangingPunct="1">
        <a:defRPr lang="es-ES">
          <a:solidFill>
            <a:schemeClr val="tx2"/>
          </a:solidFill>
        </a:defRPr>
      </a:lvl5pPr>
      <a:lvl6pPr eaLnBrk="1" hangingPunct="1">
        <a:defRPr lang="es-ES">
          <a:solidFill>
            <a:schemeClr val="tx2"/>
          </a:solidFill>
        </a:defRPr>
      </a:lvl6pPr>
      <a:lvl7pPr eaLnBrk="1" hangingPunct="1">
        <a:defRPr lang="es-ES">
          <a:solidFill>
            <a:schemeClr val="tx2"/>
          </a:solidFill>
        </a:defRPr>
      </a:lvl7pPr>
      <a:lvl8pPr eaLnBrk="1" hangingPunct="1">
        <a:defRPr lang="es-ES">
          <a:solidFill>
            <a:schemeClr val="tx2"/>
          </a:solidFill>
        </a:defRPr>
      </a:lvl8pPr>
      <a:lvl9pPr eaLnBrk="1" hangingPunct="1">
        <a:defRPr lang="es-ES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4sur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dirty="0"/>
              <a:t>Analyzing SpaceX Launch Success Factors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/>
              <a:t>Objectives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 rtlCol="0"/>
          <a:lstStyle>
            <a:defPPr>
              <a:defRPr lang="es-ES"/>
            </a:defPPr>
          </a:lstStyle>
          <a:p>
            <a:pPr rtl="0"/>
            <a:r>
              <a:rPr lang="en-US" dirty="0"/>
              <a:t>To analyze the factors that influence the success of the first stage landing.</a:t>
            </a:r>
          </a:p>
          <a:p>
            <a:pPr rtl="0"/>
            <a:r>
              <a:rPr lang="en-US" dirty="0"/>
              <a:t>Identify launch success and failure rates.</a:t>
            </a:r>
          </a:p>
          <a:p>
            <a:pPr rtl="0"/>
            <a:r>
              <a:rPr lang="en-US" dirty="0"/>
              <a:t>Develop a predictive model to predict the outcome of launches.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7C4A7-F949-2B32-BDCB-E6838F075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A70B8-9843-9AB6-5802-80A4DDF6B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67785"/>
            <a:ext cx="4939666" cy="21706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 err="1"/>
              <a:t>Methodology</a:t>
            </a:r>
            <a:endParaRPr lang="es-ES" dirty="0"/>
          </a:p>
        </p:txBody>
      </p:sp>
      <p:pic>
        <p:nvPicPr>
          <p:cNvPr id="5" name="Picture 4" descr="Gráfico económico digital">
            <a:extLst>
              <a:ext uri="{FF2B5EF4-FFF2-40B4-BE49-F238E27FC236}">
                <a16:creationId xmlns:a16="http://schemas.microsoft.com/office/drawing/2014/main" id="{08571BA9-8C70-282F-D449-AF313B7210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168" r="3" b="3"/>
          <a:stretch/>
        </p:blipFill>
        <p:spPr>
          <a:xfrm>
            <a:off x="6399373" y="3705226"/>
            <a:ext cx="5468508" cy="2424882"/>
          </a:xfrm>
          <a:prstGeom prst="rect">
            <a:avLst/>
          </a:prstGeom>
          <a:noFill/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F5CF69-5D18-5D84-F0C4-D2E043D615F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810595"/>
            <a:ext cx="5198269" cy="3319513"/>
          </a:xfrm>
        </p:spPr>
        <p:txBody>
          <a:bodyPr tIns="457200"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n-US"/>
              <a:t>Data collection using SpaceX API and Wikipedia web scraping. </a:t>
            </a:r>
          </a:p>
          <a:p>
            <a:pPr rtl="0"/>
            <a:r>
              <a:rPr lang="en-US"/>
              <a:t>Exploratory data analysis (EDA) with visualizations and SQL. </a:t>
            </a:r>
          </a:p>
          <a:p>
            <a:pPr rtl="0"/>
            <a:r>
              <a:rPr lang="en-US"/>
              <a:t>Creation of an interactive dashboard with </a:t>
            </a:r>
            <a:r>
              <a:rPr lang="en-US" err="1"/>
              <a:t>Plotly</a:t>
            </a:r>
            <a:r>
              <a:rPr lang="en-US"/>
              <a:t> Dash. </a:t>
            </a:r>
          </a:p>
          <a:p>
            <a:pPr rtl="0"/>
            <a:r>
              <a:rPr lang="en-US"/>
              <a:t>Classification models for predictive analytics.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11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C8A90-9049-D97D-F828-7862E31B4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7872A-19AC-C369-41D0-5E30BE238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 err="1"/>
              <a:t>Deliverables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5C59DA-8447-2F60-88F7-62FFEE5458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 tIns="457200"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n-US" sz="1900"/>
              <a:t>Completed Notebooks: Data Wrangling, EDA, SQL, and Machine Learning.</a:t>
            </a:r>
          </a:p>
          <a:p>
            <a:pPr rtl="0"/>
            <a:r>
              <a:rPr lang="es-ES" sz="1900"/>
              <a:t>https://github.com/4sur/IBMDataScienceCapstone</a:t>
            </a:r>
          </a:p>
        </p:txBody>
      </p:sp>
    </p:spTree>
    <p:extLst>
      <p:ext uri="{BB962C8B-B14F-4D97-AF65-F5344CB8AC3E}">
        <p14:creationId xmlns:p14="http://schemas.microsoft.com/office/powerpoint/2010/main" val="416926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185886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/>
              <a:t>Significance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study</a:t>
            </a:r>
            <a:r>
              <a:rPr lang="es-ES" dirty="0"/>
              <a:t>:</a:t>
            </a:r>
          </a:p>
        </p:txBody>
      </p:sp>
      <p:pic>
        <p:nvPicPr>
          <p:cNvPr id="12" name="Marcador de posición de imagen 4" descr="Primer plano de un grano de madera">
            <a:extLst>
              <a:ext uri="{FF2B5EF4-FFF2-40B4-BE49-F238E27FC236}">
                <a16:creationId xmlns:a16="http://schemas.microsoft.com/office/drawing/2014/main" id="{7D5BDB53-9169-3BBC-9362-0539514AC7D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113"/>
            <a:ext cx="5791200" cy="6880226"/>
          </a:xfr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058653"/>
            <a:ext cx="5486400" cy="236881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dirty="0"/>
              <a:t>Understand the factors affecting SpaceX launch success.</a:t>
            </a:r>
          </a:p>
          <a:p>
            <a:pPr rtl="0"/>
            <a:r>
              <a:rPr lang="en-US" dirty="0"/>
              <a:t>Improve operational efficiency and reduce costs through data analysis.</a:t>
            </a:r>
          </a:p>
          <a:p>
            <a:pPr rtl="0"/>
            <a:r>
              <a:rPr lang="en-US" dirty="0"/>
              <a:t>Explore historical trends and patterns in launches.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268F7F9-E2B5-4DDC-4090-1EEF6DAE2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749" y="1359963"/>
            <a:ext cx="5355702" cy="456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FA61D-81EC-2230-2F7C-7DDD67A3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6F00E-1066-B8B4-1C5A-29C3E2F05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185886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Key </a:t>
            </a:r>
            <a:r>
              <a:rPr lang="es-ES" dirty="0" err="1"/>
              <a:t>questions</a:t>
            </a:r>
            <a:r>
              <a:rPr lang="es-ES" dirty="0"/>
              <a:t>:</a:t>
            </a:r>
          </a:p>
        </p:txBody>
      </p:sp>
      <p:pic>
        <p:nvPicPr>
          <p:cNvPr id="12" name="Marcador de posición de imagen 4" descr="Primer plano de un grano de madera">
            <a:extLst>
              <a:ext uri="{FF2B5EF4-FFF2-40B4-BE49-F238E27FC236}">
                <a16:creationId xmlns:a16="http://schemas.microsoft.com/office/drawing/2014/main" id="{05310634-1C64-4B2B-18D2-08A0AB7CF40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113"/>
            <a:ext cx="5791200" cy="6880226"/>
          </a:xfr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DD1415-8BB1-AD0C-F28F-DB7CBDB9CF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058653"/>
            <a:ext cx="5486400" cy="236881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dirty="0"/>
              <a:t>What are the most important factors influencing landing success?</a:t>
            </a:r>
          </a:p>
          <a:p>
            <a:pPr rtl="0"/>
            <a:r>
              <a:rPr lang="en-US" dirty="0"/>
              <a:t>How have success rates evolved over time?</a:t>
            </a:r>
          </a:p>
          <a:p>
            <a:pPr rtl="0"/>
            <a:r>
              <a:rPr lang="en-US" dirty="0"/>
              <a:t>Can the outcome of a launch be accurately predicted?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3173A2-032A-E458-809C-13DCD78F0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65" y="2289398"/>
            <a:ext cx="4962302" cy="401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84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Data </a:t>
            </a:r>
            <a:r>
              <a:rPr lang="es-ES" dirty="0" err="1"/>
              <a:t>collection</a:t>
            </a:r>
            <a:r>
              <a:rPr lang="es-ES" dirty="0"/>
              <a:t>: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n-US" dirty="0"/>
              <a:t>SpaceX API for detailed launch information.</a:t>
            </a:r>
          </a:p>
          <a:p>
            <a:pPr rtl="0"/>
            <a:r>
              <a:rPr lang="en-US" dirty="0"/>
              <a:t>Web scraping of the Falcon9 wiki page to complement the data.</a:t>
            </a:r>
          </a:p>
          <a:p>
            <a:pPr rtl="0"/>
            <a:r>
              <a:rPr lang="en-US" dirty="0"/>
              <a:t>Data cleaning: Handling of missing values and outliers.</a:t>
            </a:r>
          </a:p>
          <a:p>
            <a:pPr rtl="0"/>
            <a:r>
              <a:rPr lang="en-US" dirty="0"/>
              <a:t>Standardization of variables such as “outcome” and “</a:t>
            </a:r>
            <a:r>
              <a:rPr lang="en-US" dirty="0" err="1"/>
              <a:t>landing_outcome</a:t>
            </a:r>
            <a:r>
              <a:rPr lang="en-US" dirty="0"/>
              <a:t>”.</a:t>
            </a:r>
          </a:p>
          <a:p>
            <a:pPr rtl="0"/>
            <a:r>
              <a:rPr lang="en-US" dirty="0"/>
              <a:t>Feature Engineering: Creation of new variables such as: Categories for landing outcome (success, failure, loss).</a:t>
            </a:r>
          </a:p>
          <a:p>
            <a:pPr rtl="0"/>
            <a:r>
              <a:rPr lang="en-US" dirty="0"/>
              <a:t>Count of launches per site and orbit.</a:t>
            </a:r>
            <a:endParaRPr lang="es-ES" dirty="0"/>
          </a:p>
          <a:p>
            <a:pPr rtl="0"/>
            <a:endParaRPr lang="es-ES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/>
              <a:t>Exploratory</a:t>
            </a:r>
            <a:r>
              <a:rPr lang="es-ES" dirty="0"/>
              <a:t> </a:t>
            </a:r>
            <a:r>
              <a:rPr lang="es-ES" dirty="0" err="1"/>
              <a:t>Analysis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Visualizations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Key </a:t>
            </a:r>
            <a:r>
              <a:rPr lang="es-ES" dirty="0" err="1"/>
              <a:t>Visualizations</a:t>
            </a:r>
            <a:r>
              <a:rPr lang="es-ES" dirty="0"/>
              <a:t>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651895" cy="359747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dirty="0"/>
              <a:t>Bar charts to show the number of launches per site.</a:t>
            </a:r>
          </a:p>
          <a:p>
            <a:pPr rtl="0"/>
            <a:r>
              <a:rPr lang="en-US" dirty="0"/>
              <a:t>Scatter plots to relate payload mass and landing outcome.</a:t>
            </a:r>
          </a:p>
          <a:p>
            <a:pPr rtl="0"/>
            <a:r>
              <a:rPr lang="en-US" dirty="0"/>
              <a:t>Trend curves to observe the evolution of success rates over time.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b="1" dirty="0"/>
              <a:t>Relevant results:</a:t>
            </a:r>
          </a:p>
          <a:p>
            <a:pPr rtl="0"/>
            <a:r>
              <a:rPr lang="en-US" dirty="0"/>
              <a:t>Sites such as Cape Canaveral present higher number of successful launches.</a:t>
            </a:r>
          </a:p>
          <a:p>
            <a:pPr rtl="0"/>
            <a:r>
              <a:rPr lang="en-US" dirty="0"/>
              <a:t>GEO and GTO orbits have higher success rates than low orbits.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404" y="555891"/>
            <a:ext cx="3776460" cy="254281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/>
              <a:t>Exploratory</a:t>
            </a:r>
            <a:r>
              <a:rPr lang="es-ES" dirty="0"/>
              <a:t> </a:t>
            </a:r>
            <a:r>
              <a:rPr lang="es-ES" dirty="0" err="1"/>
              <a:t>analysis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SQL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9404" y="3400976"/>
            <a:ext cx="6230052" cy="2901133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n-US" dirty="0"/>
              <a:t>Obtaining unique launches per site.</a:t>
            </a:r>
          </a:p>
          <a:p>
            <a:pPr rtl="0"/>
            <a:r>
              <a:rPr lang="en-US" dirty="0"/>
              <a:t>Count of launches with “CCA” result.</a:t>
            </a:r>
          </a:p>
          <a:p>
            <a:pPr rtl="0"/>
            <a:r>
              <a:rPr lang="en-US" dirty="0"/>
              <a:t>Calculation of average payload mass for each orbit.</a:t>
            </a:r>
          </a:p>
          <a:p>
            <a:pPr rtl="0"/>
            <a:r>
              <a:rPr lang="en-US" dirty="0"/>
              <a:t>Identification of the number of mission successes and failures.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599B60-BF79-A832-6AD4-6C6FC6CE43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59456" y="3699017"/>
            <a:ext cx="4764751" cy="230505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n-US" b="1" dirty="0"/>
              <a:t>Insights:</a:t>
            </a:r>
          </a:p>
          <a:p>
            <a:pPr rtl="0"/>
            <a:r>
              <a:rPr lang="en-US" dirty="0"/>
              <a:t>Cape Canaveral site is the most used site for successful launches.</a:t>
            </a:r>
          </a:p>
          <a:p>
            <a:pPr rtl="0"/>
            <a:r>
              <a:rPr lang="en-US" dirty="0"/>
              <a:t>GEO and GTO orbits have higher average payload mass.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409854" cy="235402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pc="60" dirty="0"/>
              <a:t>Interactive </a:t>
            </a:r>
            <a:r>
              <a:rPr lang="es-ES" spc="60" dirty="0" err="1"/>
              <a:t>Map</a:t>
            </a:r>
            <a:r>
              <a:rPr lang="es-ES" spc="60" dirty="0"/>
              <a:t> </a:t>
            </a:r>
            <a:r>
              <a:rPr lang="es-ES" spc="60" dirty="0" err="1"/>
              <a:t>with</a:t>
            </a:r>
            <a:r>
              <a:rPr lang="es-ES" spc="60" dirty="0"/>
              <a:t> </a:t>
            </a:r>
            <a:r>
              <a:rPr lang="es-ES" spc="60" dirty="0" err="1"/>
              <a:t>Folium</a:t>
            </a:r>
            <a:endParaRPr lang="es-ES" spc="6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188239" cy="2994025"/>
          </a:xfrm>
        </p:spPr>
        <p:txBody>
          <a:bodyPr rtlCol="0">
            <a:normAutofit lnSpcReduction="10000"/>
          </a:bodyPr>
          <a:lstStyle>
            <a:defPPr>
              <a:defRPr lang="es-ES"/>
            </a:defPPr>
          </a:lstStyle>
          <a:p>
            <a:pPr rtl="0"/>
            <a:r>
              <a:rPr lang="en-US" b="1" dirty="0"/>
              <a:t>Map features:</a:t>
            </a:r>
          </a:p>
          <a:p>
            <a:pPr rtl="0"/>
            <a:r>
              <a:rPr lang="en-US" dirty="0"/>
              <a:t>Geographic markers to visualize launch sites.</a:t>
            </a:r>
          </a:p>
          <a:p>
            <a:pPr rtl="0"/>
            <a:r>
              <a:rPr lang="en-US" dirty="0"/>
              <a:t>Different colors to distinguish between successes and failures.</a:t>
            </a:r>
          </a:p>
          <a:p>
            <a:pPr rtl="0"/>
            <a:r>
              <a:rPr lang="en-US" b="1" dirty="0"/>
              <a:t>Results:</a:t>
            </a:r>
          </a:p>
          <a:p>
            <a:pPr rtl="0"/>
            <a:r>
              <a:rPr lang="en-US" dirty="0"/>
              <a:t>Spatial visualization of the distribution of successful and unsuccessful launches.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76FEA1-3379-A509-656C-90E3F8372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359" y="1250830"/>
            <a:ext cx="5205506" cy="447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F76B3EF-82A8-BE21-4BAF-53A5DA679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70" y="75047"/>
            <a:ext cx="12202670" cy="607558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64EE56-6144-6B23-D225-ECBDDB3CF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1783584"/>
          </a:xfrm>
        </p:spPr>
        <p:txBody>
          <a:bodyPr/>
          <a:lstStyle/>
          <a:p>
            <a:r>
              <a:rPr lang="en-US" spc="60" dirty="0"/>
              <a:t>Interactive Dashboard with </a:t>
            </a:r>
            <a:r>
              <a:rPr lang="en-US" spc="60" dirty="0" err="1"/>
              <a:t>Plotly</a:t>
            </a:r>
            <a:r>
              <a:rPr lang="en-US" spc="60" dirty="0"/>
              <a:t> and Dash</a:t>
            </a:r>
            <a:endParaRPr lang="es-ES" dirty="0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10CAE057-3C9F-02FB-CBF6-13356DFEB9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pPr algn="l" rtl="0"/>
            <a:endParaRPr lang="en-US" b="1" dirty="0"/>
          </a:p>
          <a:p>
            <a:pPr algn="l" rtl="0"/>
            <a:endParaRPr lang="en-US" b="1" dirty="0"/>
          </a:p>
          <a:p>
            <a:pPr algn="l" rtl="0"/>
            <a:endParaRPr lang="en-US" b="1" dirty="0"/>
          </a:p>
          <a:p>
            <a:pPr algn="l" rtl="0"/>
            <a:endParaRPr lang="en-US" b="1" dirty="0"/>
          </a:p>
          <a:p>
            <a:pPr algn="l" rtl="0"/>
            <a:endParaRPr lang="en-US" b="1" dirty="0"/>
          </a:p>
          <a:p>
            <a:pPr algn="l" rtl="0"/>
            <a:endParaRPr lang="en-US" b="1" dirty="0"/>
          </a:p>
          <a:p>
            <a:pPr algn="l" rtl="0"/>
            <a:r>
              <a:rPr lang="en-US" b="1" dirty="0"/>
              <a:t>	</a:t>
            </a:r>
          </a:p>
          <a:p>
            <a:pPr algn="l" rtl="0"/>
            <a:r>
              <a:rPr lang="en-US" b="1" dirty="0"/>
              <a:t>Dashboard components:</a:t>
            </a:r>
            <a:br>
              <a:rPr lang="en-US" b="1" dirty="0"/>
            </a:br>
            <a:endParaRPr lang="en-US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r>
              <a:rPr lang="en-US" sz="1800" dirty="0"/>
              <a:t>- Pie chart to show the number of launches per site.</a:t>
            </a:r>
          </a:p>
          <a:p>
            <a:pPr algn="l" rtl="0"/>
            <a:r>
              <a:rPr lang="en-US" sz="1800" dirty="0"/>
              <a:t>- Scatter plot to relate payload mass and landing result.</a:t>
            </a:r>
          </a:p>
          <a:p>
            <a:pPr algn="l" rtl="0"/>
            <a:r>
              <a:rPr lang="en-US" sz="1800" dirty="0"/>
              <a:t>- Interactive filters to explore data by specific orbits or years.</a:t>
            </a:r>
            <a:endParaRPr lang="es-ES" sz="1800" dirty="0"/>
          </a:p>
          <a:p>
            <a:pPr algn="l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130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69011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pc="60" dirty="0"/>
              <a:t>Predictive </a:t>
            </a:r>
            <a:r>
              <a:rPr lang="es-ES" spc="60" dirty="0" err="1"/>
              <a:t>Analysis</a:t>
            </a:r>
            <a:endParaRPr lang="es-ES" spc="6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0245" y="1788004"/>
            <a:ext cx="5500477" cy="359747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lvl="1" rtl="0"/>
            <a:r>
              <a:rPr lang="en-US" dirty="0"/>
              <a:t>Model process:</a:t>
            </a:r>
          </a:p>
          <a:p>
            <a:pPr lvl="1" rtl="0"/>
            <a:r>
              <a:rPr lang="en-US" dirty="0"/>
              <a:t>Division of data into training and testing.</a:t>
            </a:r>
          </a:p>
          <a:p>
            <a:pPr lvl="1" rtl="0"/>
            <a:r>
              <a:rPr lang="en-US" dirty="0"/>
              <a:t>Use of </a:t>
            </a:r>
            <a:r>
              <a:rPr lang="en-US" dirty="0" err="1"/>
              <a:t>GridSearchCV</a:t>
            </a:r>
            <a:r>
              <a:rPr lang="en-US" dirty="0"/>
              <a:t> to select the best hyperparameters.</a:t>
            </a:r>
          </a:p>
          <a:p>
            <a:pPr lvl="1" rtl="0"/>
            <a:r>
              <a:rPr lang="en-US" dirty="0"/>
              <a:t>Evaluation using metrics such as accuracy.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61258" y="2745536"/>
            <a:ext cx="4316083" cy="3482608"/>
          </a:xfrm>
        </p:spPr>
        <p:txBody>
          <a:bodyPr rtlCol="0">
            <a:normAutofit lnSpcReduction="10000"/>
          </a:bodyPr>
          <a:lstStyle>
            <a:defPPr>
              <a:defRPr lang="es-ES"/>
            </a:defPPr>
          </a:lstStyle>
          <a:p>
            <a:pPr rtl="0"/>
            <a:r>
              <a:rPr lang="en-US" sz="2800" dirty="0"/>
              <a:t>Key results:</a:t>
            </a:r>
          </a:p>
          <a:p>
            <a:pPr rtl="0"/>
            <a:r>
              <a:rPr lang="en-US" sz="2800" dirty="0"/>
              <a:t>The model achieved 90% accuracy in predicting results.</a:t>
            </a:r>
          </a:p>
          <a:p>
            <a:pPr rtl="0"/>
            <a:r>
              <a:rPr lang="en-US" sz="2800" dirty="0"/>
              <a:t>The most important features are payload mass, orbit and launch site.</a:t>
            </a:r>
            <a:endParaRPr lang="es-ES" sz="2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41FBA82-FE34-6FB6-1845-82D20B397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81" y="3674853"/>
            <a:ext cx="3900418" cy="286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4840-4F3F-A94F-CDAC-76492119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5CF43D7-6B44-7A86-7CBD-FD4E8B9D5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/>
              <a:t>Summary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findings</a:t>
            </a:r>
            <a:r>
              <a:rPr lang="es-ES" dirty="0"/>
              <a:t>: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0AC6560D-4C72-52EF-1BA0-B5609A662E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n-US" dirty="0"/>
              <a:t>Sites such as Cape Canaveral are key to launch success.</a:t>
            </a:r>
          </a:p>
          <a:p>
            <a:pPr rtl="0"/>
            <a:r>
              <a:rPr lang="en-US" dirty="0"/>
              <a:t>GEO and GTO orbits have higher success rates.</a:t>
            </a:r>
          </a:p>
          <a:p>
            <a:pPr rtl="0"/>
            <a:r>
              <a:rPr lang="en-US" dirty="0"/>
              <a:t>The predictive model can accurately predict the outcome of launches.</a:t>
            </a:r>
          </a:p>
          <a:p>
            <a:pPr rtl="0"/>
            <a:endParaRPr lang="en-US" dirty="0"/>
          </a:p>
          <a:p>
            <a:pPr rtl="0"/>
            <a:r>
              <a:rPr lang="en-US" b="1" dirty="0"/>
              <a:t>Recommendations:</a:t>
            </a:r>
          </a:p>
          <a:p>
            <a:pPr rtl="0"/>
            <a:r>
              <a:rPr lang="en-US" dirty="0"/>
              <a:t>Optimize resources at sites with higher probability of success.</a:t>
            </a:r>
          </a:p>
          <a:p>
            <a:pPr rtl="0"/>
            <a:r>
              <a:rPr lang="en-US" dirty="0"/>
              <a:t>Investigate underlying causes of failures in specific orbits.</a:t>
            </a:r>
            <a:endParaRPr lang="es-ES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BE5596E-5258-76C3-71C9-9FE58F73E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1889FEA9-8683-05BD-DAB1-5A447ECF3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7E9B3716-8D68-5780-20E2-7AB3C0C38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8242BBC5-45CE-10D3-3109-19153C214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06389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/>
              <a:t>Thank</a:t>
            </a:r>
            <a:r>
              <a:rPr lang="es-ES" dirty="0"/>
              <a:t> </a:t>
            </a:r>
            <a:r>
              <a:rPr lang="es-ES" dirty="0" err="1"/>
              <a:t>you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DE98B73-1A3D-6322-9DD8-3654E04DA6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dirty="0">
                <a:hlinkClick r:id="rId3"/>
              </a:rPr>
              <a:t>https://github.com/4sur</a:t>
            </a:r>
            <a:br>
              <a:rPr lang="es-ES" dirty="0"/>
            </a:br>
            <a:r>
              <a:rPr lang="es-ES" dirty="0"/>
              <a:t>Manu L.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7_TF78853419_Win32" id="{89881BBC-4720-4DBD-B653-230ED84EDDDD}" vid="{D5D0700E-9D65-401B-B37B-B3D39C01EE2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{77C014ED-46A3-447A-860D-DCEEEA63AB10}tf78853419_win32</Template>
  <TotalTime>45</TotalTime>
  <Words>585</Words>
  <Application>Microsoft Office PowerPoint</Application>
  <PresentationFormat>Panorámica</PresentationFormat>
  <Paragraphs>96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Franklin Gothic Book</vt:lpstr>
      <vt:lpstr>Franklin Gothic Demi</vt:lpstr>
      <vt:lpstr>Personalizar</vt:lpstr>
      <vt:lpstr>Analyzing SpaceX Launch Success Factors</vt:lpstr>
      <vt:lpstr>Objectives</vt:lpstr>
      <vt:lpstr>Methodology</vt:lpstr>
      <vt:lpstr>Deliverables</vt:lpstr>
      <vt:lpstr>Significance of the study:</vt:lpstr>
      <vt:lpstr>Key questions:</vt:lpstr>
      <vt:lpstr>Data collection:</vt:lpstr>
      <vt:lpstr>Exploratory Analysis with Visualizations</vt:lpstr>
      <vt:lpstr>Key Visualizations:</vt:lpstr>
      <vt:lpstr>Exploratory analysis with SQL</vt:lpstr>
      <vt:lpstr>Interactive Map with Folium</vt:lpstr>
      <vt:lpstr>Interactive Dashboard with Plotly and Dash</vt:lpstr>
      <vt:lpstr>Predictive Analysis</vt:lpstr>
      <vt:lpstr>Summary of findings: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Compras</dc:creator>
  <cp:lastModifiedBy>Compras</cp:lastModifiedBy>
  <cp:revision>10</cp:revision>
  <dcterms:created xsi:type="dcterms:W3CDTF">2025-02-23T18:14:14Z</dcterms:created>
  <dcterms:modified xsi:type="dcterms:W3CDTF">2025-02-23T18:59:59Z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